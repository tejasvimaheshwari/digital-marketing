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2"/>
  </p:notesMasterIdLst>
  <p:sldIdLst>
    <p:sldId id="278" r:id="rId2"/>
    <p:sldId id="273" r:id="rId3"/>
    <p:sldId id="274" r:id="rId4"/>
    <p:sldId id="275" r:id="rId5"/>
    <p:sldId id="276" r:id="rId6"/>
    <p:sldId id="279" r:id="rId7"/>
    <p:sldId id="280" r:id="rId8"/>
    <p:sldId id="301" r:id="rId9"/>
    <p:sldId id="281" r:id="rId10"/>
    <p:sldId id="302" r:id="rId11"/>
    <p:sldId id="282" r:id="rId12"/>
    <p:sldId id="285" r:id="rId13"/>
    <p:sldId id="284" r:id="rId14"/>
    <p:sldId id="283" r:id="rId15"/>
    <p:sldId id="287" r:id="rId16"/>
    <p:sldId id="286" r:id="rId17"/>
    <p:sldId id="288" r:id="rId18"/>
    <p:sldId id="289" r:id="rId19"/>
    <p:sldId id="290" r:id="rId20"/>
    <p:sldId id="291" r:id="rId21"/>
    <p:sldId id="303" r:id="rId22"/>
    <p:sldId id="292" r:id="rId23"/>
    <p:sldId id="295" r:id="rId24"/>
    <p:sldId id="294" r:id="rId25"/>
    <p:sldId id="296" r:id="rId26"/>
    <p:sldId id="297" r:id="rId27"/>
    <p:sldId id="298" r:id="rId28"/>
    <p:sldId id="299" r:id="rId29"/>
    <p:sldId id="300" r:id="rId30"/>
    <p:sldId id="304" r:id="rId31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5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16" autoAdjust="0"/>
    <p:restoredTop sz="94622" autoAdjust="0"/>
  </p:normalViewPr>
  <p:slideViewPr>
    <p:cSldViewPr>
      <p:cViewPr varScale="1">
        <p:scale>
          <a:sx n="50" d="100"/>
          <a:sy n="50" d="100"/>
        </p:scale>
        <p:origin x="773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31D70A-9942-46F8-A39A-185BCE0200DF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657B6F-041D-463D-A340-AEC6E90E5C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3092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61C57-651F-C12B-3FB1-09CE0845E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CC6CDA-46D3-5FC1-CC96-94AEDC2E86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90301E-01DF-7F7B-5CEE-32D277E22D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37E6A3-275A-87F4-076F-53A5B77725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509057-1842-46BE-A23A-03C178CA0D95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6956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843BF-5924-41D3-0EBA-CC640DD3F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FC6406C-0441-DBDA-4BC7-436AEF74EE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8288000" cy="103336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291196-BC7B-FFA7-1741-99F76C762E8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0" y="-495300"/>
            <a:ext cx="5073675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669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EB13EC-26ED-EE27-44A5-B2DD2D1F9223}"/>
              </a:ext>
            </a:extLst>
          </p:cNvPr>
          <p:cNvSpPr txBox="1"/>
          <p:nvPr/>
        </p:nvSpPr>
        <p:spPr>
          <a:xfrm>
            <a:off x="7629724" y="1233969"/>
            <a:ext cx="3276600" cy="502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IN" sz="2400" b="1" dirty="0">
                <a:solidFill>
                  <a:srgbClr val="000000"/>
                </a:solidFill>
                <a:effectLst/>
                <a:latin typeface="Calibri-Bold"/>
              </a:rPr>
              <a:t>Assignment Folio of </a:t>
            </a:r>
            <a:endParaRPr lang="en-IN" sz="2000" dirty="0"/>
          </a:p>
          <a:p>
            <a:pPr algn="ctr">
              <a:lnSpc>
                <a:spcPct val="150000"/>
              </a:lnSpc>
              <a:buNone/>
            </a:pP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Digital Marketing </a:t>
            </a:r>
            <a:endParaRPr lang="en-IN" sz="2000" dirty="0"/>
          </a:p>
          <a:p>
            <a:pPr algn="ctr">
              <a:lnSpc>
                <a:spcPct val="150000"/>
              </a:lnSpc>
              <a:buNone/>
            </a:pPr>
            <a:r>
              <a:rPr lang="en-IN" sz="2400" b="1" dirty="0">
                <a:solidFill>
                  <a:srgbClr val="000000"/>
                </a:solidFill>
                <a:effectLst/>
                <a:latin typeface="Calibri-Bold"/>
              </a:rPr>
              <a:t>Submitted to </a:t>
            </a:r>
            <a:endParaRPr lang="en-IN" sz="2000" dirty="0"/>
          </a:p>
          <a:p>
            <a:pPr algn="ctr">
              <a:lnSpc>
                <a:spcPct val="150000"/>
              </a:lnSpc>
              <a:buNone/>
            </a:pPr>
            <a:r>
              <a:rPr lang="en-IN" sz="240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Dezyne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École College </a:t>
            </a:r>
            <a:endParaRPr lang="en-IN" sz="2000" dirty="0"/>
          </a:p>
          <a:p>
            <a:pPr algn="ctr">
              <a:lnSpc>
                <a:spcPct val="150000"/>
              </a:lnSpc>
              <a:buNone/>
            </a:pP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Toward Digital Marketing </a:t>
            </a:r>
            <a:endParaRPr lang="en-IN" sz="2000" dirty="0"/>
          </a:p>
          <a:p>
            <a:pPr algn="ctr">
              <a:lnSpc>
                <a:spcPct val="150000"/>
              </a:lnSpc>
              <a:buNone/>
            </a:pPr>
            <a:r>
              <a:rPr lang="en-IN" sz="2400" b="1" dirty="0">
                <a:solidFill>
                  <a:srgbClr val="000000"/>
                </a:solidFill>
                <a:effectLst/>
                <a:latin typeface="Calibri-Bold"/>
              </a:rPr>
              <a:t>By </a:t>
            </a:r>
            <a:endParaRPr lang="en-IN" sz="2000" dirty="0"/>
          </a:p>
          <a:p>
            <a:pPr algn="ctr">
              <a:lnSpc>
                <a:spcPct val="150000"/>
              </a:lnSpc>
              <a:buNone/>
            </a:pP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BCA</a:t>
            </a:r>
            <a:endParaRPr lang="en-IN" sz="2000" dirty="0"/>
          </a:p>
          <a:p>
            <a:pPr algn="ctr">
              <a:lnSpc>
                <a:spcPct val="150000"/>
              </a:lnSpc>
              <a:buNone/>
            </a:pPr>
            <a:r>
              <a:rPr lang="en-IN" sz="2400" dirty="0">
                <a:solidFill>
                  <a:srgbClr val="000000"/>
                </a:solidFill>
                <a:latin typeface="Calibri" panose="020F0502020204030204" pitchFamily="34" charset="0"/>
              </a:rPr>
              <a:t>3</a:t>
            </a:r>
            <a:r>
              <a:rPr lang="en-IN" sz="2400" baseline="30000" dirty="0">
                <a:solidFill>
                  <a:srgbClr val="000000"/>
                </a:solidFill>
                <a:latin typeface="Calibri" panose="020F0502020204030204" pitchFamily="34" charset="0"/>
              </a:rPr>
              <a:t>rd</a:t>
            </a:r>
            <a:r>
              <a:rPr lang="en-IN" sz="14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Semester </a:t>
            </a:r>
            <a:endParaRPr lang="en-IN" sz="2000" dirty="0"/>
          </a:p>
          <a:p>
            <a:pPr algn="ctr">
              <a:lnSpc>
                <a:spcPct val="150000"/>
              </a:lnSpc>
              <a:buNone/>
            </a:pP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Tejasvi Maheshwari</a:t>
            </a:r>
            <a:endParaRPr lang="en-IN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50A74A-4634-1C3A-DA39-EDAD7B948D52}"/>
              </a:ext>
            </a:extLst>
          </p:cNvPr>
          <p:cNvSpPr txBox="1"/>
          <p:nvPr/>
        </p:nvSpPr>
        <p:spPr>
          <a:xfrm>
            <a:off x="7629724" y="7505700"/>
            <a:ext cx="3276600" cy="1906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IN" sz="2018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Dezyne</a:t>
            </a:r>
            <a:r>
              <a:rPr lang="en-IN" sz="2018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École College </a:t>
            </a:r>
            <a:endParaRPr lang="en-IN" dirty="0"/>
          </a:p>
          <a:p>
            <a:pPr algn="ctr">
              <a:lnSpc>
                <a:spcPct val="150000"/>
              </a:lnSpc>
              <a:buNone/>
            </a:pPr>
            <a:r>
              <a:rPr lang="en-IN" sz="2016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106/10, Civil Lines, Ajmer </a:t>
            </a:r>
            <a:endParaRPr lang="en-IN" dirty="0"/>
          </a:p>
          <a:p>
            <a:pPr algn="ctr">
              <a:lnSpc>
                <a:spcPct val="150000"/>
              </a:lnSpc>
              <a:buNone/>
            </a:pPr>
            <a:r>
              <a:rPr lang="en-IN" sz="2016" dirty="0">
                <a:solidFill>
                  <a:srgbClr val="0563C1"/>
                </a:solidFill>
                <a:effectLst/>
                <a:latin typeface="Calibri" panose="020F0502020204030204" pitchFamily="34" charset="0"/>
              </a:rPr>
              <a:t>www.dezyneecole.com </a:t>
            </a:r>
            <a:endParaRPr lang="en-IN" dirty="0"/>
          </a:p>
          <a:p>
            <a:pPr algn="ctr">
              <a:lnSpc>
                <a:spcPct val="150000"/>
              </a:lnSpc>
              <a:buNone/>
            </a:pPr>
            <a:r>
              <a:rPr lang="en-IN" sz="2016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2026-2027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EA7E42-3A26-054A-D88A-95B766956A64}"/>
              </a:ext>
            </a:extLst>
          </p:cNvPr>
          <p:cNvSpPr txBox="1"/>
          <p:nvPr/>
        </p:nvSpPr>
        <p:spPr>
          <a:xfrm>
            <a:off x="8182373" y="6126826"/>
            <a:ext cx="2171301" cy="1507073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 rtlCol="0">
            <a:spAutoFit/>
          </a:bodyPr>
          <a:lstStyle/>
          <a:p>
            <a:endParaRPr lang="en-IN" sz="27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2F0550-94A1-FBDC-039C-D0EB5C4FF530}"/>
              </a:ext>
            </a:extLst>
          </p:cNvPr>
          <p:cNvSpPr txBox="1"/>
          <p:nvPr/>
        </p:nvSpPr>
        <p:spPr>
          <a:xfrm>
            <a:off x="762000" y="1181100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00000"/>
                </a:solidFill>
                <a:effectLst/>
                <a:latin typeface="Calibri-Bold"/>
              </a:rPr>
              <a:t>ASSIGNMENT FOLIO</a:t>
            </a:r>
            <a:endParaRPr lang="en-IN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75D537-37F4-A0CE-9312-76D462FB4E9F}"/>
              </a:ext>
            </a:extLst>
          </p:cNvPr>
          <p:cNvSpPr txBox="1"/>
          <p:nvPr/>
        </p:nvSpPr>
        <p:spPr>
          <a:xfrm>
            <a:off x="13944600" y="625262"/>
            <a:ext cx="4343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/>
              <a:t>Assignment Report</a:t>
            </a:r>
            <a:endParaRPr lang="en-IN" sz="3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27FBA3-4DD0-AB9D-C22D-1122D16EBA2B}"/>
              </a:ext>
            </a:extLst>
          </p:cNvPr>
          <p:cNvSpPr txBox="1"/>
          <p:nvPr/>
        </p:nvSpPr>
        <p:spPr>
          <a:xfrm>
            <a:off x="777240" y="579120"/>
            <a:ext cx="4343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Digital Marketing</a:t>
            </a:r>
            <a:endParaRPr lang="en-IN" sz="4000" dirty="0">
              <a:solidFill>
                <a:schemeClr val="accent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8E334B-6BAC-F519-E8AA-AF7C1B257022}"/>
              </a:ext>
            </a:extLst>
          </p:cNvPr>
          <p:cNvSpPr txBox="1"/>
          <p:nvPr/>
        </p:nvSpPr>
        <p:spPr>
          <a:xfrm>
            <a:off x="769620" y="904970"/>
            <a:ext cx="16748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000000"/>
                </a:solidFill>
                <a:effectLst/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2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185B20-FC65-089D-DB93-1FE99D2E146C}"/>
              </a:ext>
            </a:extLst>
          </p:cNvPr>
          <p:cNvSpPr txBox="1"/>
          <p:nvPr/>
        </p:nvSpPr>
        <p:spPr>
          <a:xfrm>
            <a:off x="792480" y="9430905"/>
            <a:ext cx="16748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000000"/>
                </a:solidFill>
                <a:effectLst/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009927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041502-3019-C200-A4C0-4F0FB47E909D}"/>
              </a:ext>
            </a:extLst>
          </p:cNvPr>
          <p:cNvSpPr txBox="1"/>
          <p:nvPr/>
        </p:nvSpPr>
        <p:spPr>
          <a:xfrm>
            <a:off x="762000" y="1181100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00000"/>
                </a:solidFill>
                <a:effectLst/>
                <a:latin typeface="Calibri-Bold"/>
              </a:rPr>
              <a:t>ASSIGNMENT FOLIO</a:t>
            </a:r>
            <a:endParaRPr lang="en-IN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A562EC-37A1-BEEA-9EBB-856FDF8F5D87}"/>
              </a:ext>
            </a:extLst>
          </p:cNvPr>
          <p:cNvSpPr txBox="1"/>
          <p:nvPr/>
        </p:nvSpPr>
        <p:spPr>
          <a:xfrm>
            <a:off x="13944600" y="625262"/>
            <a:ext cx="4343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/>
              <a:t>Acknowledgement</a:t>
            </a:r>
            <a:endParaRPr lang="en-IN"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806327-027E-46D5-A545-4125E248BF58}"/>
              </a:ext>
            </a:extLst>
          </p:cNvPr>
          <p:cNvSpPr txBox="1"/>
          <p:nvPr/>
        </p:nvSpPr>
        <p:spPr>
          <a:xfrm>
            <a:off x="777240" y="579120"/>
            <a:ext cx="4343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Digital Marketing</a:t>
            </a:r>
            <a:endParaRPr lang="en-IN" sz="4000" dirty="0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354051-ED13-9F40-954C-C3EE845613BF}"/>
              </a:ext>
            </a:extLst>
          </p:cNvPr>
          <p:cNvSpPr txBox="1"/>
          <p:nvPr/>
        </p:nvSpPr>
        <p:spPr>
          <a:xfrm>
            <a:off x="769620" y="904970"/>
            <a:ext cx="16748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000000"/>
                </a:solidFill>
                <a:effectLst/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223780-E417-81F9-02FD-B8194EF44570}"/>
              </a:ext>
            </a:extLst>
          </p:cNvPr>
          <p:cNvSpPr txBox="1"/>
          <p:nvPr/>
        </p:nvSpPr>
        <p:spPr>
          <a:xfrm>
            <a:off x="716280" y="2091817"/>
            <a:ext cx="175717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We take this opportunity to express our sincere gratitude to </a:t>
            </a:r>
            <a:r>
              <a:rPr lang="en-IN" sz="240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Dezyne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École College for providing us with the knowledge, </a:t>
            </a:r>
            <a:endParaRPr lang="en-IN" sz="2400" dirty="0"/>
          </a:p>
          <a:p>
            <a:pPr>
              <a:buNone/>
            </a:pP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resources, and guidance essential to the successful completion of this project.</a:t>
            </a:r>
            <a:endParaRPr lang="en-IN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F0E4E0-31C1-6C41-4773-E4B05CC6CDF9}"/>
              </a:ext>
            </a:extLst>
          </p:cNvPr>
          <p:cNvSpPr txBox="1"/>
          <p:nvPr/>
        </p:nvSpPr>
        <p:spPr>
          <a:xfrm>
            <a:off x="701040" y="2987949"/>
            <a:ext cx="175717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Our deepest thanks to our respected Principal, Dr. Vinita Mathur, for her visionary leadership and continuous encouragement. </a:t>
            </a:r>
          </a:p>
          <a:p>
            <a:r>
              <a:rPr lang="en-IN" sz="2400" dirty="0"/>
              <a:t>Her commitment to academic excellence and student growth has been a constant source of motivation and pride.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ED4851-BED6-C97D-CBD4-737FD7001A31}"/>
              </a:ext>
            </a:extLst>
          </p:cNvPr>
          <p:cNvSpPr txBox="1"/>
          <p:nvPr/>
        </p:nvSpPr>
        <p:spPr>
          <a:xfrm>
            <a:off x="716280" y="3998424"/>
            <a:ext cx="175717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We are equally thankful to all our faculty members for their consistent support, expert advice, and valuable insights that </a:t>
            </a:r>
          </a:p>
          <a:p>
            <a:r>
              <a:rPr lang="en-IN" sz="2400" dirty="0"/>
              <a:t>shaped our learning and helped us achieve this milestone.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ECDEBB-F665-D517-8997-481540058DC4}"/>
              </a:ext>
            </a:extLst>
          </p:cNvPr>
          <p:cNvSpPr txBox="1"/>
          <p:nvPr/>
        </p:nvSpPr>
        <p:spPr>
          <a:xfrm>
            <a:off x="731520" y="4927335"/>
            <a:ext cx="1757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/>
              <a:t>Lastly, we extend heartfelt thanks to everyone who directly or indirectly contributed to the success of this project.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78CFED-75F4-18E7-95EF-3CF996CBD9D2}"/>
              </a:ext>
            </a:extLst>
          </p:cNvPr>
          <p:cNvSpPr txBox="1"/>
          <p:nvPr/>
        </p:nvSpPr>
        <p:spPr>
          <a:xfrm>
            <a:off x="716280" y="5502331"/>
            <a:ext cx="1757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/>
              <a:t>We are proud to be part of </a:t>
            </a:r>
            <a:r>
              <a:rPr lang="en-IN" sz="2400" dirty="0" err="1"/>
              <a:t>Dezyne</a:t>
            </a:r>
            <a:r>
              <a:rPr lang="en-IN" sz="2400" dirty="0"/>
              <a:t> École College, an institution that truly nurtures professionalism, innovation, and purpose.</a:t>
            </a:r>
            <a:endParaRPr lang="en-IN" sz="3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56C6B5-E789-1834-4170-3D45DCE773BB}"/>
              </a:ext>
            </a:extLst>
          </p:cNvPr>
          <p:cNvSpPr txBox="1"/>
          <p:nvPr/>
        </p:nvSpPr>
        <p:spPr>
          <a:xfrm>
            <a:off x="716280" y="6406073"/>
            <a:ext cx="1757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/>
              <a:t>With sincere appreciation,</a:t>
            </a:r>
            <a:endParaRPr lang="en-IN" sz="4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D6EE082-41EE-6CB0-6E1F-64B21049B0A8}"/>
              </a:ext>
            </a:extLst>
          </p:cNvPr>
          <p:cNvSpPr txBox="1"/>
          <p:nvPr/>
        </p:nvSpPr>
        <p:spPr>
          <a:xfrm>
            <a:off x="716280" y="6928759"/>
            <a:ext cx="1757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/>
              <a:t>Tejasvi Maheshwari</a:t>
            </a:r>
            <a:endParaRPr lang="en-IN" sz="3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C423A19-6491-5ABB-9DAE-17A5BB10C218}"/>
              </a:ext>
            </a:extLst>
          </p:cNvPr>
          <p:cNvSpPr txBox="1"/>
          <p:nvPr/>
        </p:nvSpPr>
        <p:spPr>
          <a:xfrm>
            <a:off x="716280" y="7493580"/>
            <a:ext cx="1757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/>
              <a:t>Department – BCA</a:t>
            </a:r>
            <a:endParaRPr lang="en-IN" sz="4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C691ABC-7CC0-916D-730B-91ED476AD6A1}"/>
              </a:ext>
            </a:extLst>
          </p:cNvPr>
          <p:cNvSpPr txBox="1"/>
          <p:nvPr/>
        </p:nvSpPr>
        <p:spPr>
          <a:xfrm>
            <a:off x="716280" y="8058401"/>
            <a:ext cx="1757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 err="1"/>
              <a:t>Dezyne</a:t>
            </a:r>
            <a:r>
              <a:rPr lang="en-IN" sz="2400" dirty="0"/>
              <a:t> École College, Ajmer</a:t>
            </a:r>
            <a:endParaRPr lang="en-IN" sz="4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1F7A64-30EF-C81A-16CB-5F4D10EF8415}"/>
              </a:ext>
            </a:extLst>
          </p:cNvPr>
          <p:cNvSpPr txBox="1"/>
          <p:nvPr/>
        </p:nvSpPr>
        <p:spPr>
          <a:xfrm>
            <a:off x="792480" y="9430905"/>
            <a:ext cx="16748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000000"/>
                </a:solidFill>
                <a:effectLst/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570268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37A6E-8DC1-CD5A-7968-9091C8B08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539D44-C457-38D0-3FF5-0FF53A53F628}"/>
              </a:ext>
            </a:extLst>
          </p:cNvPr>
          <p:cNvSpPr txBox="1"/>
          <p:nvPr/>
        </p:nvSpPr>
        <p:spPr>
          <a:xfrm>
            <a:off x="762000" y="1181100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00000"/>
                </a:solidFill>
                <a:effectLst/>
                <a:latin typeface="Calibri-Bold"/>
              </a:rPr>
              <a:t>ASSIGNMENT FOLIO</a:t>
            </a:r>
            <a:endParaRPr lang="en-IN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C64653-8634-DA1B-7424-4BB67163D02B}"/>
              </a:ext>
            </a:extLst>
          </p:cNvPr>
          <p:cNvSpPr txBox="1"/>
          <p:nvPr/>
        </p:nvSpPr>
        <p:spPr>
          <a:xfrm>
            <a:off x="13944600" y="625262"/>
            <a:ext cx="4343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/>
              <a:t>Case Study</a:t>
            </a:r>
            <a:endParaRPr lang="en-IN"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ACA31D-5774-2CB5-14BA-E7529525A37D}"/>
              </a:ext>
            </a:extLst>
          </p:cNvPr>
          <p:cNvSpPr txBox="1"/>
          <p:nvPr/>
        </p:nvSpPr>
        <p:spPr>
          <a:xfrm>
            <a:off x="777240" y="579120"/>
            <a:ext cx="4343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/>
                </a:solidFill>
              </a:rPr>
              <a:t>Digital Marketing</a:t>
            </a:r>
            <a:endParaRPr lang="en-IN" sz="4000" dirty="0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8629F7-F2C1-12B5-B41C-296C529AC711}"/>
              </a:ext>
            </a:extLst>
          </p:cNvPr>
          <p:cNvSpPr txBox="1"/>
          <p:nvPr/>
        </p:nvSpPr>
        <p:spPr>
          <a:xfrm>
            <a:off x="769620" y="904970"/>
            <a:ext cx="16748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000000"/>
                </a:solidFill>
                <a:effectLst/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25CFD0-4C58-C515-9998-6DA64A0276EF}"/>
              </a:ext>
            </a:extLst>
          </p:cNvPr>
          <p:cNvSpPr txBox="1"/>
          <p:nvPr/>
        </p:nvSpPr>
        <p:spPr>
          <a:xfrm>
            <a:off x="701040" y="2616282"/>
            <a:ext cx="16062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Increase Website Traffic, Generate Quality Leads, Improve Brand Visibility, Boost Course </a:t>
            </a:r>
            <a:r>
              <a:rPr lang="en-IN" sz="2400" dirty="0" err="1"/>
              <a:t>Enrollments</a:t>
            </a:r>
            <a:r>
              <a:rPr lang="en-IN" sz="2400" dirty="0"/>
              <a:t> &amp; Maximise ROI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C5B2CB-73E4-E142-C520-8AF5AC967F9D}"/>
              </a:ext>
            </a:extLst>
          </p:cNvPr>
          <p:cNvSpPr txBox="1"/>
          <p:nvPr/>
        </p:nvSpPr>
        <p:spPr>
          <a:xfrm>
            <a:off x="701040" y="2272118"/>
            <a:ext cx="1757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Objective:</a:t>
            </a:r>
            <a:endParaRPr lang="en-IN" sz="4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8D3780-3A41-5DB5-71FA-1976A94D3326}"/>
              </a:ext>
            </a:extLst>
          </p:cNvPr>
          <p:cNvSpPr txBox="1"/>
          <p:nvPr/>
        </p:nvSpPr>
        <p:spPr>
          <a:xfrm>
            <a:off x="701040" y="3783430"/>
            <a:ext cx="16062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Targeted high-intent keywords related to computer courses.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72AC1B-66AE-13E7-E392-0D89894DEA37}"/>
              </a:ext>
            </a:extLst>
          </p:cNvPr>
          <p:cNvSpPr txBox="1"/>
          <p:nvPr/>
        </p:nvSpPr>
        <p:spPr>
          <a:xfrm>
            <a:off x="701040" y="3439266"/>
            <a:ext cx="1757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1. Search Campaign Strategy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DD65B4-7A3D-B7F1-F8C6-DB0547938F04}"/>
              </a:ext>
            </a:extLst>
          </p:cNvPr>
          <p:cNvSpPr txBox="1"/>
          <p:nvPr/>
        </p:nvSpPr>
        <p:spPr>
          <a:xfrm>
            <a:off x="701040" y="4798804"/>
            <a:ext cx="16062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Separate ad groups for each course to improve relevant and Quality Score.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CDD6EB-B0E8-3D09-EE8B-E074E536D463}"/>
              </a:ext>
            </a:extLst>
          </p:cNvPr>
          <p:cNvSpPr txBox="1"/>
          <p:nvPr/>
        </p:nvSpPr>
        <p:spPr>
          <a:xfrm>
            <a:off x="701040" y="4454640"/>
            <a:ext cx="1757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2. Structure Ad Groups</a:t>
            </a:r>
            <a:endParaRPr lang="en-IN" sz="6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AA71EC-7B65-0CAC-7909-DB66E03FAF82}"/>
              </a:ext>
            </a:extLst>
          </p:cNvPr>
          <p:cNvSpPr txBox="1"/>
          <p:nvPr/>
        </p:nvSpPr>
        <p:spPr>
          <a:xfrm>
            <a:off x="701040" y="5843630"/>
            <a:ext cx="16062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Mobile-friendly design with strong call-to-action buttons.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C479394-3868-4DEC-3CD3-823EDAA28A4C}"/>
              </a:ext>
            </a:extLst>
          </p:cNvPr>
          <p:cNvSpPr txBox="1"/>
          <p:nvPr/>
        </p:nvSpPr>
        <p:spPr>
          <a:xfrm>
            <a:off x="701040" y="5499466"/>
            <a:ext cx="1757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3. Optimized Wix Landing Page</a:t>
            </a:r>
            <a:endParaRPr lang="en-IN" sz="48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D482AE3-32D2-F4FC-48A3-16D11746E54C}"/>
              </a:ext>
            </a:extLst>
          </p:cNvPr>
          <p:cNvSpPr txBox="1"/>
          <p:nvPr/>
        </p:nvSpPr>
        <p:spPr>
          <a:xfrm>
            <a:off x="701040" y="6888456"/>
            <a:ext cx="16062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Measure form submission and call clicks for performance analysis.</a:t>
            </a:r>
            <a:endParaRPr lang="en-IN" sz="32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0574476-DD27-42BB-4E7D-5DD4260B475A}"/>
              </a:ext>
            </a:extLst>
          </p:cNvPr>
          <p:cNvSpPr txBox="1"/>
          <p:nvPr/>
        </p:nvSpPr>
        <p:spPr>
          <a:xfrm>
            <a:off x="701040" y="6544292"/>
            <a:ext cx="1757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4. Conversion Tracking Setup</a:t>
            </a:r>
            <a:endParaRPr lang="en-IN" sz="3200" b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562F9E4-910D-8CB0-3B85-640610215E22}"/>
              </a:ext>
            </a:extLst>
          </p:cNvPr>
          <p:cNvSpPr txBox="1"/>
          <p:nvPr/>
        </p:nvSpPr>
        <p:spPr>
          <a:xfrm>
            <a:off x="792480" y="9430905"/>
            <a:ext cx="167487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000000"/>
                </a:solidFill>
                <a:effectLst/>
                <a:latin typeface="Calibri-Bold"/>
              </a:rPr>
              <a:t>--------------------------------------------------------------------------------------------------------------------------------------------------------------------------------</a:t>
            </a:r>
            <a:endParaRPr lang="en-IN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502EA2-4D1F-616A-73AF-070EC5CB2A48}"/>
              </a:ext>
            </a:extLst>
          </p:cNvPr>
          <p:cNvSpPr txBox="1"/>
          <p:nvPr/>
        </p:nvSpPr>
        <p:spPr>
          <a:xfrm>
            <a:off x="701040" y="7919593"/>
            <a:ext cx="16062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Used “Maximize Conversions” to optimize ad spend automatically.</a:t>
            </a:r>
            <a:endParaRPr lang="en-IN" sz="3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B55893-B15B-24FA-AA2E-00004F446554}"/>
              </a:ext>
            </a:extLst>
          </p:cNvPr>
          <p:cNvSpPr txBox="1"/>
          <p:nvPr/>
        </p:nvSpPr>
        <p:spPr>
          <a:xfrm>
            <a:off x="701040" y="7575429"/>
            <a:ext cx="17571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5. Smart Bidding Strategy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4098772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8B6332-50D4-9274-D81F-374A6BD9C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5DC446-B0B8-E9BA-8600-FCB416E95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" y="0"/>
            <a:ext cx="18272760" cy="10269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570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1F2993-9DA5-44FD-4E79-87D3A3EA2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D6368F-73BC-D8F8-CEDA-B7102C701286}"/>
              </a:ext>
            </a:extLst>
          </p:cNvPr>
          <p:cNvSpPr txBox="1"/>
          <p:nvPr/>
        </p:nvSpPr>
        <p:spPr>
          <a:xfrm>
            <a:off x="0" y="211445"/>
            <a:ext cx="18288000" cy="115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200" b="1" dirty="0"/>
              <a:t>Google Ads - Overview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18FB63-F322-578D-A3FF-A592DEB55A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1418782"/>
            <a:ext cx="16459200" cy="88682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3305C4-AC0B-ADD1-BDBC-8B54415875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307340"/>
            <a:ext cx="1447800" cy="1254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221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AD3C1A-6DA1-089B-503A-60635D636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8554B3-A5C7-D618-3940-7B41D9023051}"/>
              </a:ext>
            </a:extLst>
          </p:cNvPr>
          <p:cNvSpPr txBox="1"/>
          <p:nvPr/>
        </p:nvSpPr>
        <p:spPr>
          <a:xfrm>
            <a:off x="0" y="211445"/>
            <a:ext cx="18288000" cy="115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200" b="1" dirty="0"/>
              <a:t>Google Ads Account Setup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DD2741-24BE-14B0-D3E9-7F0F1423BE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90500"/>
            <a:ext cx="1447800" cy="12547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1A535D5-834E-B5E9-AAD7-B9C86A2781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8" t="17376" r="27725"/>
          <a:stretch>
            <a:fillRect/>
          </a:stretch>
        </p:blipFill>
        <p:spPr>
          <a:xfrm>
            <a:off x="1676400" y="1332450"/>
            <a:ext cx="7196222" cy="885688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4F6DC7E-1989-9722-539B-DF4DDCBADE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0240" y="1350655"/>
            <a:ext cx="6705600" cy="881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842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85D832-DEBA-CED2-BC6C-E0273AD17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E89046-F3B2-9DB7-F29C-FF8A6ECB4A5C}"/>
              </a:ext>
            </a:extLst>
          </p:cNvPr>
          <p:cNvSpPr txBox="1"/>
          <p:nvPr/>
        </p:nvSpPr>
        <p:spPr>
          <a:xfrm>
            <a:off x="0" y="592445"/>
            <a:ext cx="18288000" cy="115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200" b="1" dirty="0"/>
              <a:t>Google Ads Account Setup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72A598-96CD-C085-10BD-BA28618BC2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571500"/>
            <a:ext cx="1447800" cy="12547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51538A9-361F-A231-FEB7-6F70CA01C4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816" t="11478" r="52604" b="26854"/>
          <a:stretch>
            <a:fillRect/>
          </a:stretch>
        </p:blipFill>
        <p:spPr>
          <a:xfrm>
            <a:off x="533400" y="2324100"/>
            <a:ext cx="8311043" cy="72837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8FB2957-6358-749C-40B7-DF996ACF9D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079" t="11926" r="9383" b="27992"/>
          <a:stretch>
            <a:fillRect/>
          </a:stretch>
        </p:blipFill>
        <p:spPr>
          <a:xfrm>
            <a:off x="9448800" y="2324099"/>
            <a:ext cx="8305800" cy="72837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0EC438F-6333-6BD3-95BE-C9A9982171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05" t="38001" r="54906" b="59867"/>
          <a:stretch>
            <a:fillRect/>
          </a:stretch>
        </p:blipFill>
        <p:spPr>
          <a:xfrm>
            <a:off x="10591800" y="4076700"/>
            <a:ext cx="990600" cy="228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C322224-ACCF-B703-D466-0DEF8F8BAC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179" t="62881" r="38465" b="34276"/>
          <a:stretch>
            <a:fillRect/>
          </a:stretch>
        </p:blipFill>
        <p:spPr>
          <a:xfrm>
            <a:off x="10820400" y="6804198"/>
            <a:ext cx="39624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969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E1D82D-3A1B-AA29-6713-D6679A25B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5BC26D-E040-5424-8C13-A029DD2001E8}"/>
              </a:ext>
            </a:extLst>
          </p:cNvPr>
          <p:cNvSpPr txBox="1"/>
          <p:nvPr/>
        </p:nvSpPr>
        <p:spPr>
          <a:xfrm>
            <a:off x="0" y="0"/>
            <a:ext cx="18288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800" b="1" dirty="0"/>
              <a:t>Google Ads Dashboard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FA4D50-AD6F-9A0C-95EF-5CEE65AB99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54940"/>
            <a:ext cx="1447800" cy="12547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AA13F7D-42A7-AB73-7BD1-FB75EA896C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34" b="5157"/>
          <a:stretch>
            <a:fillRect/>
          </a:stretch>
        </p:blipFill>
        <p:spPr>
          <a:xfrm>
            <a:off x="15240" y="1542445"/>
            <a:ext cx="18272760" cy="874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145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F30581-EF2F-8F1E-1510-E8AC341C4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E69C86-F52F-E6DF-84B4-96DD0330B868}"/>
              </a:ext>
            </a:extLst>
          </p:cNvPr>
          <p:cNvSpPr txBox="1"/>
          <p:nvPr/>
        </p:nvSpPr>
        <p:spPr>
          <a:xfrm>
            <a:off x="0" y="592445"/>
            <a:ext cx="18288000" cy="115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200" b="1" dirty="0"/>
              <a:t>Campaign Setup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43DAA4-663F-5C1C-2F36-DDDAAD046F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47700"/>
            <a:ext cx="1447800" cy="12547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3BE8882-A411-A9BB-696D-6F7133E88F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731" y="2171700"/>
            <a:ext cx="16394538" cy="746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196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D41B79-6909-29C3-4788-6C7A4E977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E1638D-D6D5-F599-2ECE-A21DFDE1595E}"/>
              </a:ext>
            </a:extLst>
          </p:cNvPr>
          <p:cNvSpPr txBox="1"/>
          <p:nvPr/>
        </p:nvSpPr>
        <p:spPr>
          <a:xfrm>
            <a:off x="0" y="668645"/>
            <a:ext cx="18288000" cy="115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200" b="1" dirty="0"/>
              <a:t>Campaign Objective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D491E6-4EF5-CDDD-74D7-97F39FFCF0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723900"/>
            <a:ext cx="1447800" cy="12547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4FA160F-95AC-12DD-D127-DB856640A3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1" t="15846" r="8749"/>
          <a:stretch>
            <a:fillRect/>
          </a:stretch>
        </p:blipFill>
        <p:spPr>
          <a:xfrm>
            <a:off x="1714500" y="2400300"/>
            <a:ext cx="14859000" cy="7105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2921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DD1647-5255-F6CE-B77D-8646DDCA6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EB42A0-DEF0-D416-A88B-3D5DD2BB387E}"/>
              </a:ext>
            </a:extLst>
          </p:cNvPr>
          <p:cNvSpPr txBox="1"/>
          <p:nvPr/>
        </p:nvSpPr>
        <p:spPr>
          <a:xfrm>
            <a:off x="0" y="592445"/>
            <a:ext cx="18288000" cy="115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200" b="1" dirty="0"/>
              <a:t>Campaign Types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09960A-2371-2983-3044-73FD8F4B42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88340"/>
            <a:ext cx="1447800" cy="12547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F788CFE-DD75-F95F-F505-2C44F0A4BC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48" t="9804" r="10925"/>
          <a:stretch>
            <a:fillRect/>
          </a:stretch>
        </p:blipFill>
        <p:spPr>
          <a:xfrm>
            <a:off x="1562100" y="2171700"/>
            <a:ext cx="15163800" cy="739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5025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65C07A-DCD3-8675-DB78-93B9FB9B9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5589C5-1564-501B-59E5-DC4E06DBA7BA}"/>
              </a:ext>
            </a:extLst>
          </p:cNvPr>
          <p:cNvSpPr txBox="1"/>
          <p:nvPr/>
        </p:nvSpPr>
        <p:spPr>
          <a:xfrm>
            <a:off x="0" y="440045"/>
            <a:ext cx="18288000" cy="115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200" b="1" dirty="0"/>
              <a:t>Bidding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743965-5369-3DCE-DD3E-F55E450EAB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495300"/>
            <a:ext cx="1447800" cy="12547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32F1B5-C447-2C44-2D6B-8DB69F2B49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08" t="7213" r="23061" b="29713"/>
          <a:stretch>
            <a:fillRect/>
          </a:stretch>
        </p:blipFill>
        <p:spPr>
          <a:xfrm>
            <a:off x="3086100" y="1866900"/>
            <a:ext cx="11620500" cy="7489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5777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625195-B84E-4111-FAF2-0AEABACEB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183F40-E00A-AC31-70B6-03EDDEF6D432}"/>
              </a:ext>
            </a:extLst>
          </p:cNvPr>
          <p:cNvSpPr txBox="1"/>
          <p:nvPr/>
        </p:nvSpPr>
        <p:spPr>
          <a:xfrm>
            <a:off x="0" y="211445"/>
            <a:ext cx="18288000" cy="115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/>
              <a:t>Campaign Setting: Location and Language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13421D-74C9-1086-822B-CD7C63146E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90500"/>
            <a:ext cx="1447800" cy="12547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A1285B8-10A9-5D75-B2CC-C0838E1DA4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20" t="5435" r="26528"/>
          <a:stretch>
            <a:fillRect/>
          </a:stretch>
        </p:blipFill>
        <p:spPr>
          <a:xfrm>
            <a:off x="5181600" y="1350655"/>
            <a:ext cx="8001000" cy="8586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5612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8DB643-5EE2-791D-6C6E-70A3B0E41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5B58A6-1780-D56A-61E4-7A5DCFA89893}"/>
              </a:ext>
            </a:extLst>
          </p:cNvPr>
          <p:cNvSpPr txBox="1"/>
          <p:nvPr/>
        </p:nvSpPr>
        <p:spPr>
          <a:xfrm>
            <a:off x="0" y="287645"/>
            <a:ext cx="18288000" cy="115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/>
              <a:t>Campaign Setting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9A7919-2A6B-A95D-F9E0-80D1F78F13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342900"/>
            <a:ext cx="1447800" cy="12547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AD3A4FC-C482-CDF0-E001-C9CC3F06A5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94" t="10114" r="21864" b="3622"/>
          <a:stretch>
            <a:fillRect/>
          </a:stretch>
        </p:blipFill>
        <p:spPr>
          <a:xfrm>
            <a:off x="4229100" y="1562100"/>
            <a:ext cx="9906000" cy="8152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5245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9BB583-3D59-454E-15E0-A6221A54D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7D1EAA-765A-6733-834C-31CDB5E1B926}"/>
              </a:ext>
            </a:extLst>
          </p:cNvPr>
          <p:cNvSpPr txBox="1"/>
          <p:nvPr/>
        </p:nvSpPr>
        <p:spPr>
          <a:xfrm>
            <a:off x="0" y="287645"/>
            <a:ext cx="18288000" cy="115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/>
              <a:t>Campaign Setting: Asset Group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BA654F-4FC3-3F0E-79D4-49FA961892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342900"/>
            <a:ext cx="1447800" cy="12547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BEC83A5-01D0-B262-3EA3-F5579A27AC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34" t="8809" r="23920"/>
          <a:stretch>
            <a:fillRect/>
          </a:stretch>
        </p:blipFill>
        <p:spPr>
          <a:xfrm>
            <a:off x="4200749" y="1358275"/>
            <a:ext cx="9886501" cy="8418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7525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484B69-2894-9902-A29E-51764F2DA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FEFA40-5126-EC6D-40D9-F7B4700F3869}"/>
              </a:ext>
            </a:extLst>
          </p:cNvPr>
          <p:cNvSpPr txBox="1"/>
          <p:nvPr/>
        </p:nvSpPr>
        <p:spPr>
          <a:xfrm>
            <a:off x="0" y="363845"/>
            <a:ext cx="18288000" cy="115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/>
              <a:t>Campaign Setting: Asset Group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4AED11-6E80-9FEB-371B-B99E69D789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459740"/>
            <a:ext cx="1447800" cy="12547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5712800-D730-2B1B-1545-F6F4919E8E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69"/>
          <a:stretch>
            <a:fillRect/>
          </a:stretch>
        </p:blipFill>
        <p:spPr>
          <a:xfrm>
            <a:off x="3358198" y="1714500"/>
            <a:ext cx="11647803" cy="821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3798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614ACF-7116-F8B7-9786-BA8602912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C9BBCA-B913-BD23-3335-87B5DE0E0CAA}"/>
              </a:ext>
            </a:extLst>
          </p:cNvPr>
          <p:cNvSpPr txBox="1"/>
          <p:nvPr/>
        </p:nvSpPr>
        <p:spPr>
          <a:xfrm>
            <a:off x="0" y="211445"/>
            <a:ext cx="18288000" cy="115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/>
              <a:t>Campaign Setting: Asset Group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BDEAD7-9A4B-0401-A1F9-A4E05E668F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307340"/>
            <a:ext cx="1447800" cy="12547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9BA928D-65C3-AAE9-29F4-BB78F32733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36" t="5559" r="22919"/>
          <a:stretch>
            <a:fillRect/>
          </a:stretch>
        </p:blipFill>
        <p:spPr>
          <a:xfrm>
            <a:off x="4610100" y="1350655"/>
            <a:ext cx="9144000" cy="8636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2233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76B1FB-5884-A62D-8E33-3BC06C810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E69A58-6DFE-B732-8C50-A495974CC599}"/>
              </a:ext>
            </a:extLst>
          </p:cNvPr>
          <p:cNvSpPr txBox="1"/>
          <p:nvPr/>
        </p:nvSpPr>
        <p:spPr>
          <a:xfrm>
            <a:off x="0" y="211445"/>
            <a:ext cx="18288000" cy="115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/>
              <a:t>Campaign Setting: Asset Group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86ABE2-C7C6-D544-80DC-2D7564B589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66700"/>
            <a:ext cx="1447800" cy="12547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E63B3B9-54B9-DA82-F873-5C64EC1D15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57" t="5046" r="23440"/>
          <a:stretch>
            <a:fillRect/>
          </a:stretch>
        </p:blipFill>
        <p:spPr>
          <a:xfrm>
            <a:off x="4572000" y="1257300"/>
            <a:ext cx="9144000" cy="8847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5967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D2B498-C3E5-66F0-B4A4-77DBA06FB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0C4552-47DD-8FBE-F700-9722A0D3AF5C}"/>
              </a:ext>
            </a:extLst>
          </p:cNvPr>
          <p:cNvSpPr txBox="1"/>
          <p:nvPr/>
        </p:nvSpPr>
        <p:spPr>
          <a:xfrm>
            <a:off x="0" y="0"/>
            <a:ext cx="18364200" cy="115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/>
              <a:t>Campaign Setting: Asset Group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01FB03-1AE2-B184-72F4-0D162DE537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38100"/>
            <a:ext cx="1447800" cy="12547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682917A-1716-7D73-4E06-7F1329F9EC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77" t="5559" r="23960"/>
          <a:stretch>
            <a:fillRect/>
          </a:stretch>
        </p:blipFill>
        <p:spPr>
          <a:xfrm>
            <a:off x="4686300" y="1107996"/>
            <a:ext cx="8915400" cy="8744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5100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7279BE-C80D-6CD4-A3B8-D4D0BF1A4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0DCCAA-23A6-EA6F-6306-37657A36F59F}"/>
              </a:ext>
            </a:extLst>
          </p:cNvPr>
          <p:cNvSpPr txBox="1"/>
          <p:nvPr/>
        </p:nvSpPr>
        <p:spPr>
          <a:xfrm>
            <a:off x="0" y="709285"/>
            <a:ext cx="18288000" cy="115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/>
              <a:t>Campaign Setting: Signals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7320B6-6EF5-1573-0FB6-1C1AA3639F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88340"/>
            <a:ext cx="1447800" cy="12547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AC6B382-65B6-8569-5BA6-785559695F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857500"/>
            <a:ext cx="16916400" cy="6560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4841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B775DC-7F4C-3C08-4245-7EAC186CD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C7FC143-DAAF-7ADD-D0B1-7DD2B958C6E0}"/>
              </a:ext>
            </a:extLst>
          </p:cNvPr>
          <p:cNvSpPr txBox="1"/>
          <p:nvPr/>
        </p:nvSpPr>
        <p:spPr>
          <a:xfrm>
            <a:off x="0" y="0"/>
            <a:ext cx="18288000" cy="115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/>
              <a:t>Campaign Setting: Signals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7ACFEC-A818-32F8-E1E7-41C1D2E97D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5895"/>
            <a:ext cx="1447800" cy="12547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A207488-F37A-3337-59C3-C1017449DE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08" t="8578" r="24367"/>
          <a:stretch>
            <a:fillRect/>
          </a:stretch>
        </p:blipFill>
        <p:spPr>
          <a:xfrm>
            <a:off x="4419600" y="1107996"/>
            <a:ext cx="9753600" cy="8986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8064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598DBE-2672-1A7B-B346-3352EE46B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CD732F-24CF-79DF-170A-A9DB41F0620A}"/>
              </a:ext>
            </a:extLst>
          </p:cNvPr>
          <p:cNvSpPr txBox="1"/>
          <p:nvPr/>
        </p:nvSpPr>
        <p:spPr>
          <a:xfrm>
            <a:off x="0" y="105300"/>
            <a:ext cx="18364200" cy="115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/>
              <a:t>Ads Preview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E9BBB6-AA5B-1327-81E7-36A33F249E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5895"/>
            <a:ext cx="1447800" cy="12547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1F052F-61B1-F816-9687-F98E481177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639" y="1476283"/>
            <a:ext cx="4638958" cy="84452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CA3642-5ED4-40A1-4C50-E30F9DAF27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9937" y="1494124"/>
            <a:ext cx="4484326" cy="84571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88D5BE1-D780-667A-A4B7-1A7E38D4CF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60603" y="1494124"/>
            <a:ext cx="4353484" cy="84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6273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7C35B3-CF0F-2A72-3C85-8993D38DC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E1E389-3BF6-800E-0918-029500623EB9}"/>
              </a:ext>
            </a:extLst>
          </p:cNvPr>
          <p:cNvSpPr txBox="1"/>
          <p:nvPr/>
        </p:nvSpPr>
        <p:spPr>
          <a:xfrm>
            <a:off x="0" y="105300"/>
            <a:ext cx="18364200" cy="115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/>
              <a:t>Ads Preview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709B9F-BF71-B738-6157-C845AC3D31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5895"/>
            <a:ext cx="1447800" cy="12547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8D5A681-3D8A-EB02-9B2B-5C1A0F39A5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4860" y="1485900"/>
            <a:ext cx="4320000" cy="846000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DB586B8F-7CD1-DD0D-72F6-8273DF3815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15"/>
          <a:stretch>
            <a:fillRect/>
          </a:stretch>
        </p:blipFill>
        <p:spPr>
          <a:xfrm>
            <a:off x="6920101" y="1485900"/>
            <a:ext cx="4523998" cy="846000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D7890822-913E-509C-AF21-6D21C6DE0D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95"/>
          <a:stretch>
            <a:fillRect/>
          </a:stretch>
        </p:blipFill>
        <p:spPr>
          <a:xfrm>
            <a:off x="12439340" y="1447800"/>
            <a:ext cx="4500000" cy="84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6789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853922-5A95-CA33-7D45-7F87295B7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8F6794-71D4-A774-A4DF-DFD23F19A3BD}"/>
              </a:ext>
            </a:extLst>
          </p:cNvPr>
          <p:cNvSpPr txBox="1"/>
          <p:nvPr/>
        </p:nvSpPr>
        <p:spPr>
          <a:xfrm>
            <a:off x="0" y="545345"/>
            <a:ext cx="18364200" cy="115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/>
              <a:t>Ads Preview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FFDC03-CFFD-D4D1-61A7-A558961F9C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459740"/>
            <a:ext cx="1447800" cy="12547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1CE2D1-79D4-4932-7B01-155409D746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1341" y="2324100"/>
            <a:ext cx="3810229" cy="74731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DE3B751-67B7-353C-3DA1-AF0414BD31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173" y="2324100"/>
            <a:ext cx="4020739" cy="74836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3E7B9C9-D48A-3438-D21B-CBDD3ABA91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2346961"/>
            <a:ext cx="3810229" cy="740661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21765B8-5532-D476-005C-2C2113FEB5B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66659" y="2346962"/>
            <a:ext cx="3642112" cy="7406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7236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3A7A3C-7BC5-29FD-828C-1CB9EDDA0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1FEB63-56BC-D6A1-FAC8-DA9F111F75FB}"/>
              </a:ext>
            </a:extLst>
          </p:cNvPr>
          <p:cNvSpPr txBox="1"/>
          <p:nvPr/>
        </p:nvSpPr>
        <p:spPr>
          <a:xfrm>
            <a:off x="0" y="333900"/>
            <a:ext cx="18364200" cy="115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/>
              <a:t>Google Ads Budget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10B7AC-E8A6-E392-835C-472665E841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31140"/>
            <a:ext cx="1447800" cy="12547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496589E-D5FE-8018-411C-2D21E09D37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33" t="7331" r="23399" b="46290"/>
          <a:stretch>
            <a:fillRect/>
          </a:stretch>
        </p:blipFill>
        <p:spPr>
          <a:xfrm>
            <a:off x="1463040" y="2095500"/>
            <a:ext cx="1536192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7242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790CC0-922E-4116-C156-F299E791C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1E8824-6BDB-F30C-B933-99EDC96C5F39}"/>
              </a:ext>
            </a:extLst>
          </p:cNvPr>
          <p:cNvSpPr txBox="1"/>
          <p:nvPr/>
        </p:nvSpPr>
        <p:spPr>
          <a:xfrm>
            <a:off x="0" y="333900"/>
            <a:ext cx="18364200" cy="115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/>
              <a:t>Google Ads Campaign Review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7BAFE5-D353-5034-2CEE-1D3E0E420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307340"/>
            <a:ext cx="1447800" cy="12547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7D44E08-7881-8E23-AF6C-1F882591E7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34" r="23920"/>
          <a:stretch>
            <a:fillRect/>
          </a:stretch>
        </p:blipFill>
        <p:spPr>
          <a:xfrm>
            <a:off x="548639" y="1714500"/>
            <a:ext cx="8190733" cy="82150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1F4523D-A518-9639-FBE3-0E843D43E8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9" r="24424"/>
          <a:stretch>
            <a:fillRect/>
          </a:stretch>
        </p:blipFill>
        <p:spPr>
          <a:xfrm>
            <a:off x="9677400" y="1714500"/>
            <a:ext cx="7924800" cy="821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9103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9E6806-2FD0-9835-D7D6-70CE8B353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720C7B-2EDF-D420-572A-21BFADA5ED36}"/>
              </a:ext>
            </a:extLst>
          </p:cNvPr>
          <p:cNvSpPr txBox="1"/>
          <p:nvPr/>
        </p:nvSpPr>
        <p:spPr>
          <a:xfrm>
            <a:off x="0" y="410100"/>
            <a:ext cx="18364200" cy="115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/>
              <a:t>Google Ads Campaign Review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2B3C85-0685-7189-9B8B-FDBDABB8B0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383540"/>
            <a:ext cx="1447800" cy="12547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EECD4D0-2672-579A-9C6D-6AAC8719E4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808536"/>
            <a:ext cx="8631074" cy="847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8856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768798-3553-B856-2CE7-6D1BB625E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C4D312-9B90-E09F-1B6F-9FF5BE078074}"/>
              </a:ext>
            </a:extLst>
          </p:cNvPr>
          <p:cNvSpPr txBox="1"/>
          <p:nvPr/>
        </p:nvSpPr>
        <p:spPr>
          <a:xfrm>
            <a:off x="0" y="105300"/>
            <a:ext cx="18364200" cy="115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/>
              <a:t>Campaign Dashboard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474BE8-BFB1-D0D3-5F66-91F46F9B7A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5895"/>
            <a:ext cx="1447800" cy="12547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F75C26-880E-1EC8-2BF0-B26360D555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350655"/>
            <a:ext cx="15621000" cy="878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2980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81183A-C2B1-DEAD-7F56-50C90FC0E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40B6319-0518-3BB9-473E-C319B1873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9700" y="209581"/>
            <a:ext cx="13948599" cy="9867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63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406</TotalTime>
  <Words>395</Words>
  <Application>Microsoft Office PowerPoint</Application>
  <PresentationFormat>Custom</PresentationFormat>
  <Paragraphs>77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Calibri-Bold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SEO Strategy for TharCool Growth</dc:title>
  <dc:creator>Mukesh Neelu</dc:creator>
  <cp:lastModifiedBy>Tejasvi Maheshwari</cp:lastModifiedBy>
  <cp:revision>8</cp:revision>
  <dcterms:created xsi:type="dcterms:W3CDTF">2006-08-16T00:00:00Z</dcterms:created>
  <dcterms:modified xsi:type="dcterms:W3CDTF">2026-09-05T05:19:21Z</dcterms:modified>
  <dc:identifier>DAHRJheS19U</dc:identifier>
</cp:coreProperties>
</file>