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78" r:id="rId2"/>
    <p:sldId id="273" r:id="rId3"/>
    <p:sldId id="274" r:id="rId4"/>
    <p:sldId id="275" r:id="rId5"/>
    <p:sldId id="276" r:id="rId6"/>
    <p:sldId id="279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9" r:id="rId15"/>
    <p:sldId id="288" r:id="rId16"/>
    <p:sldId id="290" r:id="rId17"/>
    <p:sldId id="291" r:id="rId18"/>
    <p:sldId id="292" r:id="rId19"/>
    <p:sldId id="293" r:id="rId20"/>
    <p:sldId id="294" r:id="rId21"/>
    <p:sldId id="295" r:id="rId22"/>
    <p:sldId id="280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FC6"/>
    <a:srgbClr val="FDF9ED"/>
    <a:srgbClr val="FEFAEE"/>
    <a:srgbClr val="FFF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22" autoAdjust="0"/>
  </p:normalViewPr>
  <p:slideViewPr>
    <p:cSldViewPr>
      <p:cViewPr varScale="1">
        <p:scale>
          <a:sx n="50" d="100"/>
          <a:sy n="50" d="100"/>
        </p:scale>
        <p:origin x="77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1D70A-9942-46F8-A39A-185BCE0200DF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57B6F-041D-463D-A340-AEC6E90E5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09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1C57-651F-C12B-3FB1-09CE0845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C6CDA-46D3-5FC1-CC96-94AEDC2E8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0301E-01DF-7F7B-5CEE-32D277E22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7E6A3-275A-87F4-076F-53A5B7772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9057-1842-46BE-A23A-03C178CA0D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956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843BF-5924-41D3-0EBA-CC640DD3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E2E0A3-1444-0CC8-D344-7CE258AA6A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7" r="417"/>
          <a:stretch>
            <a:fillRect/>
          </a:stretch>
        </p:blipFill>
        <p:spPr>
          <a:xfrm>
            <a:off x="10903" y="-38100"/>
            <a:ext cx="18266194" cy="103251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E461E5-918A-E173-DD86-759E325D2221}"/>
              </a:ext>
            </a:extLst>
          </p:cNvPr>
          <p:cNvSpPr/>
          <p:nvPr/>
        </p:nvSpPr>
        <p:spPr>
          <a:xfrm>
            <a:off x="12877800" y="190500"/>
            <a:ext cx="5181600" cy="1981200"/>
          </a:xfrm>
          <a:prstGeom prst="rect">
            <a:avLst/>
          </a:prstGeom>
          <a:solidFill>
            <a:srgbClr val="FDE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53A9D9-E1B4-E9C3-386F-3CD0F6BBE6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-495300"/>
            <a:ext cx="50736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6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B13EC-26ED-EE27-44A5-B2DD2D1F9223}"/>
              </a:ext>
            </a:extLst>
          </p:cNvPr>
          <p:cNvSpPr txBox="1"/>
          <p:nvPr/>
        </p:nvSpPr>
        <p:spPr>
          <a:xfrm>
            <a:off x="7629724" y="1233969"/>
            <a:ext cx="32766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 of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Digital Marketing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Submitted to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Toward Digital Marketing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By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BCA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24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IN" sz="1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Semester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Tejasvi Maheshwari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A74A-4634-1C3A-DA39-EDAD7B948D52}"/>
              </a:ext>
            </a:extLst>
          </p:cNvPr>
          <p:cNvSpPr txBox="1"/>
          <p:nvPr/>
        </p:nvSpPr>
        <p:spPr>
          <a:xfrm>
            <a:off x="7629724" y="7505700"/>
            <a:ext cx="3276600" cy="190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018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018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106/10, Civil Lines, Ajmer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563C1"/>
                </a:solidFill>
                <a:effectLst/>
                <a:latin typeface="Calibri" panose="020F0502020204030204" pitchFamily="34" charset="0"/>
              </a:rPr>
              <a:t>www.dezyneecole.com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2026-2027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A7E42-3A26-054A-D88A-95B766956A64}"/>
              </a:ext>
            </a:extLst>
          </p:cNvPr>
          <p:cNvSpPr txBox="1"/>
          <p:nvPr/>
        </p:nvSpPr>
        <p:spPr>
          <a:xfrm>
            <a:off x="8182373" y="6126826"/>
            <a:ext cx="2171301" cy="150707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sz="2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0550-94A1-FBDC-039C-D0EB5C4FF530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D537-37F4-A0CE-9312-76D462FB4E9F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Assignment Report</a:t>
            </a:r>
            <a:endParaRPr lang="en-IN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7FBA3-4DD0-AB9D-C22D-1122D16EBA2B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E334B-6BAC-F519-E8AA-AF7C1B257022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5B20-FC65-089D-DB93-1FE99D2E146C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0992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41502-3019-C200-A4C0-4F0FB47E909D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562EC-37A1-BEEA-9EBB-856FDF8F5D87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Acknowledgement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06327-027E-46D5-A545-4125E248BF58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54051-ED13-9F40-954C-C3EE845613BF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23780-E417-81F9-02FD-B8194EF44570}"/>
              </a:ext>
            </a:extLst>
          </p:cNvPr>
          <p:cNvSpPr txBox="1"/>
          <p:nvPr/>
        </p:nvSpPr>
        <p:spPr>
          <a:xfrm>
            <a:off x="716280" y="2091817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 take this opportunity to express our sincere gratitude to </a:t>
            </a:r>
            <a:r>
              <a:rPr lang="en-IN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for providing us with the knowledge, </a:t>
            </a:r>
            <a:endParaRPr lang="en-IN" sz="2400" dirty="0"/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resources, and guidance essential to the successful completion of this project.</a:t>
            </a:r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0E4E0-31C1-6C41-4773-E4B05CC6CDF9}"/>
              </a:ext>
            </a:extLst>
          </p:cNvPr>
          <p:cNvSpPr txBox="1"/>
          <p:nvPr/>
        </p:nvSpPr>
        <p:spPr>
          <a:xfrm>
            <a:off x="701040" y="2987949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Our deepest thanks to our respected Principal, Dr. Vinita Mathur, for her visionary leadership and continuous encouragement. </a:t>
            </a:r>
          </a:p>
          <a:p>
            <a:r>
              <a:rPr lang="en-IN" sz="2400" dirty="0"/>
              <a:t>Her commitment to academic excellence and student growth has been a constant source of motivation and pride.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D4851-BED6-C97D-CBD4-737FD7001A31}"/>
              </a:ext>
            </a:extLst>
          </p:cNvPr>
          <p:cNvSpPr txBox="1"/>
          <p:nvPr/>
        </p:nvSpPr>
        <p:spPr>
          <a:xfrm>
            <a:off x="716280" y="3998424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We are equally thankful to all our faculty members for their consistent support, expert advice, and valuable insights that </a:t>
            </a:r>
          </a:p>
          <a:p>
            <a:r>
              <a:rPr lang="en-IN" sz="2400" dirty="0"/>
              <a:t>shaped our learning and helped us achieve this milestone.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CDEBB-F665-D517-8997-481540058DC4}"/>
              </a:ext>
            </a:extLst>
          </p:cNvPr>
          <p:cNvSpPr txBox="1"/>
          <p:nvPr/>
        </p:nvSpPr>
        <p:spPr>
          <a:xfrm>
            <a:off x="731520" y="4927335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Lastly, we extend heartfelt thanks to everyone who directly or indirectly contributed to the success of this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8CFED-75F4-18E7-95EF-3CF996CBD9D2}"/>
              </a:ext>
            </a:extLst>
          </p:cNvPr>
          <p:cNvSpPr txBox="1"/>
          <p:nvPr/>
        </p:nvSpPr>
        <p:spPr>
          <a:xfrm>
            <a:off x="716280" y="5502331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We are proud to be part of </a:t>
            </a:r>
            <a:r>
              <a:rPr lang="en-IN" sz="2400" dirty="0" err="1"/>
              <a:t>Dezyne</a:t>
            </a:r>
            <a:r>
              <a:rPr lang="en-IN" sz="2400" dirty="0"/>
              <a:t> École College, an institution that truly nurtures professionalism, innovation, and purpose.</a:t>
            </a:r>
            <a:endParaRPr lang="en-IN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6C6B5-E789-1834-4170-3D45DCE773BB}"/>
              </a:ext>
            </a:extLst>
          </p:cNvPr>
          <p:cNvSpPr txBox="1"/>
          <p:nvPr/>
        </p:nvSpPr>
        <p:spPr>
          <a:xfrm>
            <a:off x="716280" y="6406073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With sincere appreciation,</a:t>
            </a:r>
            <a:endParaRPr lang="en-IN" sz="4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EE082-41EE-6CB0-6E1F-64B21049B0A8}"/>
              </a:ext>
            </a:extLst>
          </p:cNvPr>
          <p:cNvSpPr txBox="1"/>
          <p:nvPr/>
        </p:nvSpPr>
        <p:spPr>
          <a:xfrm>
            <a:off x="716280" y="6928759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Tejasvi Maheshwari</a:t>
            </a:r>
            <a:endParaRPr lang="en-IN" sz="3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23A19-6491-5ABB-9DAE-17A5BB10C218}"/>
              </a:ext>
            </a:extLst>
          </p:cNvPr>
          <p:cNvSpPr txBox="1"/>
          <p:nvPr/>
        </p:nvSpPr>
        <p:spPr>
          <a:xfrm>
            <a:off x="716280" y="7493580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Department – BCA</a:t>
            </a:r>
            <a:endParaRPr lang="en-IN" sz="4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691ABC-7CC0-916D-730B-91ED476AD6A1}"/>
              </a:ext>
            </a:extLst>
          </p:cNvPr>
          <p:cNvSpPr txBox="1"/>
          <p:nvPr/>
        </p:nvSpPr>
        <p:spPr>
          <a:xfrm>
            <a:off x="716280" y="8058401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 err="1"/>
              <a:t>Dezyne</a:t>
            </a:r>
            <a:r>
              <a:rPr lang="en-IN" sz="2400" dirty="0"/>
              <a:t> École College, Ajmer</a:t>
            </a:r>
            <a:endParaRPr lang="en-IN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F7A64-30EF-C81A-16CB-5F4D10EF8415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7026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7A6E-8DC1-CD5A-7968-9091C8B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39D44-C457-38D0-3FF5-0FF53A53F628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4653-8634-DA1B-7424-4BB67163D02B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Case Study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CA31D-5774-2CB5-14BA-E7529525A37D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629F7-F2C1-12B5-B41C-296C529AC711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5CFD0-4C58-C515-9998-6DA64A0276EF}"/>
              </a:ext>
            </a:extLst>
          </p:cNvPr>
          <p:cNvSpPr txBox="1"/>
          <p:nvPr/>
        </p:nvSpPr>
        <p:spPr>
          <a:xfrm>
            <a:off x="701040" y="2616282"/>
            <a:ext cx="16062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Increase Instagram Profile Visits, Boost Brand Awareness, Grow Followers Organically, Increase Engagement Rate &amp; Improve Content Reach.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5B2CB-73E4-E142-C520-8AF5AC967F9D}"/>
              </a:ext>
            </a:extLst>
          </p:cNvPr>
          <p:cNvSpPr txBox="1"/>
          <p:nvPr/>
        </p:nvSpPr>
        <p:spPr>
          <a:xfrm>
            <a:off x="701040" y="2272118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Objective:</a:t>
            </a:r>
            <a:endParaRPr lang="en-IN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3780-3A41-5DB5-71FA-1976A94D3326}"/>
              </a:ext>
            </a:extLst>
          </p:cNvPr>
          <p:cNvSpPr txBox="1"/>
          <p:nvPr/>
        </p:nvSpPr>
        <p:spPr>
          <a:xfrm>
            <a:off x="701040" y="3783430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Selected the “Traffic” objective in Meta Ads Manager to drive Instagram profile visits.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2AC1B-66AE-13E7-E392-0D89894DEA37}"/>
              </a:ext>
            </a:extLst>
          </p:cNvPr>
          <p:cNvSpPr txBox="1"/>
          <p:nvPr/>
        </p:nvSpPr>
        <p:spPr>
          <a:xfrm>
            <a:off x="701040" y="3439266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1. Traffic Campaign Objective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D65B4-7A3D-B7F1-F8C6-DB0547938F04}"/>
              </a:ext>
            </a:extLst>
          </p:cNvPr>
          <p:cNvSpPr txBox="1"/>
          <p:nvPr/>
        </p:nvSpPr>
        <p:spPr>
          <a:xfrm>
            <a:off x="701040" y="4798804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Targeted users based on </a:t>
            </a:r>
            <a:r>
              <a:rPr lang="en-IN" sz="2400" b="1" dirty="0"/>
              <a:t>age, interests, </a:t>
            </a:r>
            <a:r>
              <a:rPr lang="en-IN" sz="2400" b="1" dirty="0" err="1"/>
              <a:t>behavior</a:t>
            </a:r>
            <a:r>
              <a:rPr lang="en-IN" sz="2400" b="1" dirty="0"/>
              <a:t>, and location.</a:t>
            </a:r>
            <a:endParaRPr lang="en-IN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D6EB-B0E8-3D09-EE8B-E074E536D463}"/>
              </a:ext>
            </a:extLst>
          </p:cNvPr>
          <p:cNvSpPr txBox="1"/>
          <p:nvPr/>
        </p:nvSpPr>
        <p:spPr>
          <a:xfrm>
            <a:off x="701040" y="4454640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2. Audience Targeting</a:t>
            </a:r>
            <a:endParaRPr lang="en-IN" sz="6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A71EC-7B65-0CAC-7909-DB66E03FAF82}"/>
              </a:ext>
            </a:extLst>
          </p:cNvPr>
          <p:cNvSpPr txBox="1"/>
          <p:nvPr/>
        </p:nvSpPr>
        <p:spPr>
          <a:xfrm>
            <a:off x="701040" y="5843630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Used </a:t>
            </a:r>
            <a:r>
              <a:rPr lang="en-IN" sz="2400" b="1" dirty="0"/>
              <a:t>eye-catching Reels, carousel posts, and strong captions.</a:t>
            </a:r>
            <a:endParaRPr lang="en-IN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79394-3868-4DEC-3CD3-823EDAA28A4C}"/>
              </a:ext>
            </a:extLst>
          </p:cNvPr>
          <p:cNvSpPr txBox="1"/>
          <p:nvPr/>
        </p:nvSpPr>
        <p:spPr>
          <a:xfrm>
            <a:off x="701040" y="5499466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3. Engaging Creative Content</a:t>
            </a:r>
            <a:endParaRPr lang="en-IN" sz="4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82AE3-32D2-F4FC-48A3-16D11746E54C}"/>
              </a:ext>
            </a:extLst>
          </p:cNvPr>
          <p:cNvSpPr txBox="1"/>
          <p:nvPr/>
        </p:nvSpPr>
        <p:spPr>
          <a:xfrm>
            <a:off x="701040" y="6859264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Used </a:t>
            </a:r>
            <a:r>
              <a:rPr lang="en-IN" sz="2400" b="1" dirty="0"/>
              <a:t>“Visit Instagram Profile”</a:t>
            </a:r>
            <a:r>
              <a:rPr lang="en-IN" sz="2400" dirty="0"/>
              <a:t> to direct users instantly.</a:t>
            </a:r>
            <a:endParaRPr lang="en-IN" sz="3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4476-DD27-42BB-4E7D-5DD4260B475A}"/>
              </a:ext>
            </a:extLst>
          </p:cNvPr>
          <p:cNvSpPr txBox="1"/>
          <p:nvPr/>
        </p:nvSpPr>
        <p:spPr>
          <a:xfrm>
            <a:off x="701040" y="6515100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4. Call-to-Action Button</a:t>
            </a:r>
            <a:endParaRPr lang="en-IN" sz="3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2F9E4-910D-8CB0-3B85-640610215E22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02EA2-4D1F-616A-73AF-070EC5CB2A48}"/>
              </a:ext>
            </a:extLst>
          </p:cNvPr>
          <p:cNvSpPr txBox="1"/>
          <p:nvPr/>
        </p:nvSpPr>
        <p:spPr>
          <a:xfrm>
            <a:off x="701040" y="7890401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Monitored metrics like </a:t>
            </a:r>
            <a:r>
              <a:rPr lang="en-IN" sz="2400" b="1" dirty="0"/>
              <a:t>CTR, Profile Visits, CPC, and Engagement Rate.</a:t>
            </a:r>
            <a:endParaRPr lang="en-IN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55893-B15B-24FA-AA2E-00004F446554}"/>
              </a:ext>
            </a:extLst>
          </p:cNvPr>
          <p:cNvSpPr txBox="1"/>
          <p:nvPr/>
        </p:nvSpPr>
        <p:spPr>
          <a:xfrm>
            <a:off x="701040" y="7546237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5. Performance Tracking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9877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B6332-50D4-9274-D81F-374A6BD9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8D2D2E-AF46-61A6-DCD4-4C624BA61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8288000" cy="1041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7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F2993-9DA5-44FD-4E79-87D3A3EA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D6368F-73BC-D8F8-CEDA-B7102C701286}"/>
              </a:ext>
            </a:extLst>
          </p:cNvPr>
          <p:cNvSpPr txBox="1"/>
          <p:nvPr/>
        </p:nvSpPr>
        <p:spPr>
          <a:xfrm>
            <a:off x="0" y="211445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Meta Ads Platform-Overview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BC43E-E4DD-EFDB-6BBF-17C9079EDE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566" y="211445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C9C5E5-37B2-AD5F-4EFF-E324453F33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212451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25B02F-C98B-44AD-FC01-2B1B0134E9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0788" r="1769"/>
          <a:stretch>
            <a:fillRect/>
          </a:stretch>
        </p:blipFill>
        <p:spPr>
          <a:xfrm>
            <a:off x="685800" y="1714500"/>
            <a:ext cx="16916400" cy="816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22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176FA-E28F-9EE5-747F-F64F40CF6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64CDA7-7C81-E145-E83A-26A0DC1B2DB2}"/>
              </a:ext>
            </a:extLst>
          </p:cNvPr>
          <p:cNvSpPr txBox="1"/>
          <p:nvPr/>
        </p:nvSpPr>
        <p:spPr>
          <a:xfrm>
            <a:off x="0" y="211445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Reach the Right People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3ED72-755B-DB83-A2A5-9E61CF85BD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566" y="211445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74747E-765A-EF21-1839-925C65C7B6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212451"/>
            <a:ext cx="1206034" cy="119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AFC562-36B9-1318-F6FB-7E20611A36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8" t="961" r="837" b="1923"/>
          <a:stretch>
            <a:fillRect/>
          </a:stretch>
        </p:blipFill>
        <p:spPr>
          <a:xfrm>
            <a:off x="883061" y="2019300"/>
            <a:ext cx="16414339" cy="76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C4C89-6EA8-7345-554A-66C44C7D6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19CD8-7F14-AE72-ED6C-139627174D78}"/>
              </a:ext>
            </a:extLst>
          </p:cNvPr>
          <p:cNvSpPr txBox="1"/>
          <p:nvPr/>
        </p:nvSpPr>
        <p:spPr>
          <a:xfrm>
            <a:off x="0" y="965666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Get Started with Ads manager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74CF9-B145-D5F4-3B44-4BC5C762C8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566" y="965666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CB889A-A8A9-4D4D-6F4A-7246F63364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966672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BD57E6-88E8-5F9F-6EE6-BDF18CAD5D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61" t="18626" r="25002" b="31378"/>
          <a:stretch>
            <a:fillRect/>
          </a:stretch>
        </p:blipFill>
        <p:spPr>
          <a:xfrm>
            <a:off x="533400" y="3619500"/>
            <a:ext cx="7980082" cy="4152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F4C036-4793-FA22-1E4C-3413915BC1E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226"/>
          <a:stretch>
            <a:fillRect/>
          </a:stretch>
        </p:blipFill>
        <p:spPr>
          <a:xfrm>
            <a:off x="9198825" y="3619500"/>
            <a:ext cx="855577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245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89B08-5486-E23F-E397-802E8F24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D5B1B3-B58D-560A-30B2-511F1D5E782F}"/>
              </a:ext>
            </a:extLst>
          </p:cNvPr>
          <p:cNvSpPr txBox="1"/>
          <p:nvPr/>
        </p:nvSpPr>
        <p:spPr>
          <a:xfrm>
            <a:off x="0" y="1041866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Instagram Connection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A481D-1D49-C6D6-78BD-EB7FCEC551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566" y="1041866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D15A2C-D9B9-A91D-8D8E-4DDC7B801D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1042872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519D6C-14B8-D9BE-A5E0-E8D89F5A07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7" t="18626" r="26048" b="34319"/>
          <a:stretch>
            <a:fillRect/>
          </a:stretch>
        </p:blipFill>
        <p:spPr>
          <a:xfrm>
            <a:off x="841901" y="3467100"/>
            <a:ext cx="7993063" cy="4038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34936D-B300-9A16-CF1B-71A3530FB0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31" t="29413" r="30731" b="35295"/>
          <a:stretch>
            <a:fillRect/>
          </a:stretch>
        </p:blipFill>
        <p:spPr>
          <a:xfrm>
            <a:off x="9453037" y="3467100"/>
            <a:ext cx="8301563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7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40392-A638-CA15-21F8-96A00C58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021F6A-F8A5-2660-5EC2-D2B77382FE67}"/>
              </a:ext>
            </a:extLst>
          </p:cNvPr>
          <p:cNvSpPr txBox="1"/>
          <p:nvPr/>
        </p:nvSpPr>
        <p:spPr>
          <a:xfrm>
            <a:off x="0" y="752191"/>
            <a:ext cx="1828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Campaign Setup – Manual Traffic Campaign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BA95E4-F764-AC2A-70B9-EDCB06216E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566" y="660866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7D89E0-4815-1BF4-CF35-EDDE01C87A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660866"/>
            <a:ext cx="1206034" cy="119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275E07-66AD-FBAA-1CF1-FF0E854BAA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4" r="1132" b="7851"/>
          <a:stretch>
            <a:fillRect/>
          </a:stretch>
        </p:blipFill>
        <p:spPr>
          <a:xfrm>
            <a:off x="1205285" y="2476500"/>
            <a:ext cx="15877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0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878D5-499D-016E-75DC-A930FA91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66D17E-9250-4432-C600-2E99E061F651}"/>
              </a:ext>
            </a:extLst>
          </p:cNvPr>
          <p:cNvSpPr txBox="1"/>
          <p:nvPr/>
        </p:nvSpPr>
        <p:spPr>
          <a:xfrm>
            <a:off x="0" y="666971"/>
            <a:ext cx="1828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Campaign objective Selection – Online Traffic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9435F-0AAF-1349-7F88-1983AD0F65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566" y="584666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FB16FC-2884-C157-5989-7BA7CF7A53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584666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D24B79-2D98-3C74-B2C0-E198796136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5" r="1481" b="8762"/>
          <a:stretch>
            <a:fillRect/>
          </a:stretch>
        </p:blipFill>
        <p:spPr>
          <a:xfrm>
            <a:off x="1312760" y="2400300"/>
            <a:ext cx="15662479" cy="655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17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B17A6-FB90-801B-E996-A89E5FD2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15E839-9D30-595A-0795-F1799B31C67D}"/>
              </a:ext>
            </a:extLst>
          </p:cNvPr>
          <p:cNvSpPr txBox="1"/>
          <p:nvPr/>
        </p:nvSpPr>
        <p:spPr>
          <a:xfrm>
            <a:off x="0" y="675991"/>
            <a:ext cx="1828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Budget Strategy &amp; Bidding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4B834-BA26-95A6-718A-95FEB27B83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566" y="584666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5385E0-A37C-CBAF-DC3D-44AF97601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584666"/>
            <a:ext cx="1206034" cy="1198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8D9E21F-A0CA-D546-768E-C80F9932DC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93" t="26199" r="29694"/>
          <a:stretch>
            <a:fillRect/>
          </a:stretch>
        </p:blipFill>
        <p:spPr>
          <a:xfrm>
            <a:off x="10040427" y="2095500"/>
            <a:ext cx="6705599" cy="78605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0F032E-7735-36A1-F6BF-6AE71AE8F8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76" t="9262" r="29689" b="28706"/>
          <a:stretch>
            <a:fillRect/>
          </a:stretch>
        </p:blipFill>
        <p:spPr>
          <a:xfrm>
            <a:off x="1371600" y="2095500"/>
            <a:ext cx="8095175" cy="786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078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440CF-A53A-EB0F-5EB6-809BF4EA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9CF873-094B-D85A-E87E-A882D31E3711}"/>
              </a:ext>
            </a:extLst>
          </p:cNvPr>
          <p:cNvSpPr txBox="1"/>
          <p:nvPr/>
        </p:nvSpPr>
        <p:spPr>
          <a:xfrm>
            <a:off x="0" y="211445"/>
            <a:ext cx="1828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Ad Set Configuration – Profile Traffic </a:t>
            </a:r>
            <a:r>
              <a:rPr lang="en-IN" sz="6000" b="1" dirty="0" err="1"/>
              <a:t>Stragety</a:t>
            </a:r>
            <a:endParaRPr lang="en-IN" sz="6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BF2A7-3AA9-7B0C-DE2C-ABB74901A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566" y="204732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D250B7-B9A8-4688-1904-C592F0F84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212451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06D887-CE04-3C54-90DD-F40710DF2C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97" t="10188" r="30211"/>
          <a:stretch>
            <a:fillRect/>
          </a:stretch>
        </p:blipFill>
        <p:spPr>
          <a:xfrm>
            <a:off x="6096000" y="1461023"/>
            <a:ext cx="6096000" cy="882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97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DC0F08-972C-C13D-24AA-0847D4B5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4FAD0C-A4E3-59BC-900E-9C8CCA68768B}"/>
              </a:ext>
            </a:extLst>
          </p:cNvPr>
          <p:cNvSpPr txBox="1"/>
          <p:nvPr/>
        </p:nvSpPr>
        <p:spPr>
          <a:xfrm>
            <a:off x="0" y="523591"/>
            <a:ext cx="1828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Budget Strategy &amp; Bidding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F4B42-5608-B7E4-B027-9A47085DB1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566" y="432266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0D693E-FB99-66A0-98E7-0B7AA49F8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432266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F77B97-8061-3A01-BF5F-C0755842E5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72" t="21368" r="29693"/>
          <a:stretch>
            <a:fillRect/>
          </a:stretch>
        </p:blipFill>
        <p:spPr>
          <a:xfrm>
            <a:off x="9494519" y="1874520"/>
            <a:ext cx="6934200" cy="8060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CA505B-07AA-0282-608C-9E64890D38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93" t="21368" r="29172"/>
          <a:stretch>
            <a:fillRect/>
          </a:stretch>
        </p:blipFill>
        <p:spPr>
          <a:xfrm>
            <a:off x="1859281" y="1866900"/>
            <a:ext cx="6934200" cy="806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2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D716A-A6D7-FE13-2725-6910E6AB4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87C0CB-4E5D-1127-0179-98022DF73797}"/>
              </a:ext>
            </a:extLst>
          </p:cNvPr>
          <p:cNvSpPr txBox="1"/>
          <p:nvPr/>
        </p:nvSpPr>
        <p:spPr>
          <a:xfrm>
            <a:off x="0" y="211445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Location Targeting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AC259-2D15-0F2F-D6C6-C511116959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0" y="211445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022F42-3E50-85F9-D78D-AB435B487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212451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9C9864-144F-0488-EA54-CF1BA268C2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61" t="9453" r="29804" b="3071"/>
          <a:stretch>
            <a:fillRect/>
          </a:stretch>
        </p:blipFill>
        <p:spPr>
          <a:xfrm>
            <a:off x="6048375" y="1417479"/>
            <a:ext cx="6191250" cy="890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17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085612-02F4-54BB-2099-CC4A5C22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B6AFBC-B655-76FD-D2F8-8CBC3E394559}"/>
              </a:ext>
            </a:extLst>
          </p:cNvPr>
          <p:cNvSpPr txBox="1"/>
          <p:nvPr/>
        </p:nvSpPr>
        <p:spPr>
          <a:xfrm>
            <a:off x="0" y="610247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Ad Placement Strategy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E6C027-0293-8AFA-6BFC-04003BA087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0" y="495300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068DEC-282B-CE2F-E542-4E19ED97D1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496306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E9967D-28A3-EA45-C130-BF792CB803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76" t="25928" r="29689" b="35187"/>
          <a:stretch>
            <a:fillRect/>
          </a:stretch>
        </p:blipFill>
        <p:spPr>
          <a:xfrm>
            <a:off x="4011385" y="3009900"/>
            <a:ext cx="10265229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62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BE4F9-DC8D-109C-6475-6E261F49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E8FB2-B57F-D928-89A7-99DB7AA1C363}"/>
              </a:ext>
            </a:extLst>
          </p:cNvPr>
          <p:cNvSpPr txBox="1"/>
          <p:nvPr/>
        </p:nvSpPr>
        <p:spPr>
          <a:xfrm>
            <a:off x="0" y="584666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Select Post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71827-C472-72C6-76E5-3052A0C6A8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0" y="584666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D45283-7550-B3F9-6F43-A1E5CE5CA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585672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108BAB-0143-43E9-BAFE-E6AF82486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88" r="1655"/>
          <a:stretch>
            <a:fillRect/>
          </a:stretch>
        </p:blipFill>
        <p:spPr>
          <a:xfrm>
            <a:off x="1158975" y="2095500"/>
            <a:ext cx="15970050" cy="769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500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1BB74-D4F7-E219-DE59-F4A578389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F2124F-24BD-FCA8-A21E-6F90E1655671}"/>
              </a:ext>
            </a:extLst>
          </p:cNvPr>
          <p:cNvSpPr txBox="1"/>
          <p:nvPr/>
        </p:nvSpPr>
        <p:spPr>
          <a:xfrm>
            <a:off x="0" y="584666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Ad Campaign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3528E-5DAA-5739-BE2B-B8B220123E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0" y="584666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ACAF19-2A7B-24E4-5368-8E71E5672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585672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092D8C-4E37-5448-FF1A-797D93A868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97" t="9077" r="7562" b="3707"/>
          <a:stretch>
            <a:fillRect/>
          </a:stretch>
        </p:blipFill>
        <p:spPr>
          <a:xfrm>
            <a:off x="533400" y="2339356"/>
            <a:ext cx="8305801" cy="7081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E3ECD5-B15F-6E1D-420A-D59D92C067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97" t="10188" r="8337" b="3708"/>
          <a:stretch>
            <a:fillRect/>
          </a:stretch>
        </p:blipFill>
        <p:spPr>
          <a:xfrm>
            <a:off x="9448800" y="2334126"/>
            <a:ext cx="8305800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05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E5E3C-806A-99F9-29E1-A3BEBF30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5E6BC0-DFD9-5569-0302-DFF52AA7FB23}"/>
              </a:ext>
            </a:extLst>
          </p:cNvPr>
          <p:cNvSpPr txBox="1"/>
          <p:nvPr/>
        </p:nvSpPr>
        <p:spPr>
          <a:xfrm>
            <a:off x="0" y="211445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Edit Placement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E1362C-3454-F6DD-BD07-75FDD5F1D5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0" y="211445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6F865C-E0BC-FEFB-2D2E-198531FCE9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212451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12076F-E913-44BD-EFB6-1EE9B90176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1" t="10188" r="5213"/>
          <a:stretch>
            <a:fillRect/>
          </a:stretch>
        </p:blipFill>
        <p:spPr>
          <a:xfrm>
            <a:off x="3848100" y="1646180"/>
            <a:ext cx="10591800" cy="842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92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ED2ED-09F1-F10D-4EBC-C8D2FD905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0C6D10-8797-128A-6D88-D714F634F7B0}"/>
              </a:ext>
            </a:extLst>
          </p:cNvPr>
          <p:cNvSpPr txBox="1"/>
          <p:nvPr/>
        </p:nvSpPr>
        <p:spPr>
          <a:xfrm>
            <a:off x="0" y="584666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Conversation &amp; Tracking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7F832-1C82-295D-DE82-3347780893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0" y="584666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BB4A86-8B26-B88B-93E7-8BB219351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585672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B73A71-BCA6-A82C-960F-2610F6CAF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590579"/>
            <a:ext cx="8436071" cy="51058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08AE1C-4230-F0AC-F021-3A633EA8CD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8529" y="2590579"/>
            <a:ext cx="8315451" cy="51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51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3975F6-7552-0862-2D30-541975BCC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5042BC-2E1B-774D-B6D2-E7010544B598}"/>
              </a:ext>
            </a:extLst>
          </p:cNvPr>
          <p:cNvSpPr txBox="1"/>
          <p:nvPr/>
        </p:nvSpPr>
        <p:spPr>
          <a:xfrm>
            <a:off x="0" y="1049645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Final Ad Preview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3E03F1-D45B-88F3-FDF5-F64E89CEEA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0" y="1049645"/>
            <a:ext cx="1206034" cy="1206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58A176-5285-7E61-54D9-E6FDB14B1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84" b="89533" l="3680" r="95680">
                        <a14:foregroundMark x1="6240" y1="57327" x2="6240" y2="57327"/>
                        <a14:foregroundMark x1="3680" y1="60870" x2="3680" y2="60870"/>
                        <a14:foregroundMark x1="95680" y1="66828" x2="95680" y2="66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1050651"/>
            <a:ext cx="1206034" cy="119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91D15E-54AD-2798-C828-AF2080F57E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" t="31759" r="4590" b="14874"/>
          <a:stretch>
            <a:fillRect/>
          </a:stretch>
        </p:blipFill>
        <p:spPr>
          <a:xfrm>
            <a:off x="400986" y="3009900"/>
            <a:ext cx="17486027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46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D5FDD-53B6-9C8E-F020-ECD3CB1E0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9DBE20-C862-AFFD-E8AC-9581FB7215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700" y="209581"/>
            <a:ext cx="13948599" cy="986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0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389</Words>
  <Application>Microsoft Office PowerPoint</Application>
  <PresentationFormat>Custom</PresentationFormat>
  <Paragraphs>69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Calibri-Bold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Strategy for TharCool Growth</dc:title>
  <dc:creator>Mukesh Neelu</dc:creator>
  <cp:lastModifiedBy>Tejasvi Maheshwari</cp:lastModifiedBy>
  <cp:revision>20</cp:revision>
  <dcterms:created xsi:type="dcterms:W3CDTF">2006-08-16T00:00:00Z</dcterms:created>
  <dcterms:modified xsi:type="dcterms:W3CDTF">2026-09-12T04:48:57Z</dcterms:modified>
  <dc:identifier>DAHRJheS19U</dc:identifier>
</cp:coreProperties>
</file>